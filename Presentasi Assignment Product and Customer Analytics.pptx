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78" r:id="rId7"/>
    <p:sldId id="266" r:id="rId8"/>
    <p:sldId id="268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77" r:id="rId21"/>
  </p:sldIdLst>
  <p:sldSz cx="18288000" cy="10287000"/>
  <p:notesSz cx="6858000" cy="9144000"/>
  <p:embeddedFontLst>
    <p:embeddedFont>
      <p:font typeface="Amsterdam Four" panose="020B0604020202020204" charset="0"/>
      <p:regular r:id="rId22"/>
    </p:embeddedFont>
    <p:embeddedFont>
      <p:font typeface="HK Modular" panose="020B0604020202020204" charset="0"/>
      <p:regular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Montserrat Ultra-Bold" panose="020B0604020202020204" charset="0"/>
      <p:regular r:id="rId28"/>
    </p:embeddedFont>
    <p:embeddedFont>
      <p:font typeface="Times New Roman MT Condensed" panose="020B0604020202020204" charset="0"/>
      <p:regular r:id="rId29"/>
    </p:embeddedFont>
    <p:embeddedFont>
      <p:font typeface="Times New Roman MT Condensed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60" d="100"/>
          <a:sy n="60" d="100"/>
        </p:scale>
        <p:origin x="3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1623" y="2959502"/>
            <a:ext cx="16230600" cy="393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1"/>
              </a:lnSpc>
            </a:pPr>
            <a:r>
              <a:rPr lang="en-US" sz="34401" b="1" spc="-344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portfolio</a:t>
            </a:r>
          </a:p>
        </p:txBody>
      </p:sp>
      <p:sp>
        <p:nvSpPr>
          <p:cNvPr id="3" name="Freeform 3"/>
          <p:cNvSpPr/>
          <p:nvPr/>
        </p:nvSpPr>
        <p:spPr>
          <a:xfrm>
            <a:off x="232525" y="152745"/>
            <a:ext cx="2365069" cy="1576712"/>
          </a:xfrm>
          <a:custGeom>
            <a:avLst/>
            <a:gdLst/>
            <a:ahLst/>
            <a:cxnLst/>
            <a:rect l="l" t="t" r="r" b="b"/>
            <a:pathLst>
              <a:path w="2365069" h="1576712">
                <a:moveTo>
                  <a:pt x="0" y="0"/>
                </a:moveTo>
                <a:lnTo>
                  <a:pt x="2365069" y="0"/>
                </a:lnTo>
                <a:lnTo>
                  <a:pt x="2365069" y="1576713"/>
                </a:lnTo>
                <a:lnTo>
                  <a:pt x="0" y="1576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889053" y="1066800"/>
            <a:ext cx="1768402" cy="2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5" name="TextBox 5"/>
          <p:cNvSpPr txBox="1"/>
          <p:nvPr/>
        </p:nvSpPr>
        <p:spPr>
          <a:xfrm rot="-263831">
            <a:off x="2924908" y="6752543"/>
            <a:ext cx="12243792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spc="-144">
                <a:solidFill>
                  <a:srgbClr val="FF3131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Toriq Avilsyah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525" y="152745"/>
            <a:ext cx="2365069" cy="1576712"/>
          </a:xfrm>
          <a:custGeom>
            <a:avLst/>
            <a:gdLst/>
            <a:ahLst/>
            <a:cxnLst/>
            <a:rect l="l" t="t" r="r" b="b"/>
            <a:pathLst>
              <a:path w="2365069" h="1576712">
                <a:moveTo>
                  <a:pt x="0" y="0"/>
                </a:moveTo>
                <a:lnTo>
                  <a:pt x="2365069" y="0"/>
                </a:lnTo>
                <a:lnTo>
                  <a:pt x="2365069" y="1576713"/>
                </a:lnTo>
                <a:lnTo>
                  <a:pt x="0" y="1576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2525" y="1413743"/>
            <a:ext cx="3096894" cy="8634573"/>
          </a:xfrm>
          <a:custGeom>
            <a:avLst/>
            <a:gdLst/>
            <a:ahLst/>
            <a:cxnLst/>
            <a:rect l="l" t="t" r="r" b="b"/>
            <a:pathLst>
              <a:path w="3096894" h="8634573">
                <a:moveTo>
                  <a:pt x="0" y="0"/>
                </a:moveTo>
                <a:lnTo>
                  <a:pt x="3096894" y="0"/>
                </a:lnTo>
                <a:lnTo>
                  <a:pt x="3096894" y="8634573"/>
                </a:lnTo>
                <a:lnTo>
                  <a:pt x="0" y="8634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90" t="-1814" r="-1667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67809" y="4082382"/>
            <a:ext cx="585383" cy="688254"/>
          </a:xfrm>
          <a:custGeom>
            <a:avLst/>
            <a:gdLst/>
            <a:ahLst/>
            <a:cxnLst/>
            <a:rect l="l" t="t" r="r" b="b"/>
            <a:pathLst>
              <a:path w="934290" h="930786">
                <a:moveTo>
                  <a:pt x="0" y="0"/>
                </a:moveTo>
                <a:lnTo>
                  <a:pt x="934289" y="0"/>
                </a:lnTo>
                <a:lnTo>
                  <a:pt x="934289" y="930786"/>
                </a:lnTo>
                <a:lnTo>
                  <a:pt x="0" y="93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205909" y="4936689"/>
            <a:ext cx="547283" cy="520852"/>
          </a:xfrm>
          <a:custGeom>
            <a:avLst/>
            <a:gdLst/>
            <a:ahLst/>
            <a:cxnLst/>
            <a:rect l="l" t="t" r="r" b="b"/>
            <a:pathLst>
              <a:path w="934290" h="881736">
                <a:moveTo>
                  <a:pt x="0" y="0"/>
                </a:moveTo>
                <a:lnTo>
                  <a:pt x="934290" y="0"/>
                </a:lnTo>
                <a:lnTo>
                  <a:pt x="934290" y="881736"/>
                </a:lnTo>
                <a:lnTo>
                  <a:pt x="0" y="881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889053" y="1019175"/>
            <a:ext cx="1768402" cy="30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-12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19 February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28804" y="941101"/>
            <a:ext cx="6004545" cy="8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4000" dirty="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ABOUT 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6800" y="1846413"/>
            <a:ext cx="12092049" cy="174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9"/>
              </a:lnSpc>
            </a:pP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Saya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merupakan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lulusan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Teknik Elektro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minat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yang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kuat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bidang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Analytics. Saya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memiliki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ketertarikan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besar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dalam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mengolah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menjadi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insight yang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bermakna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mendukung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pengambilan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keputusan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strategis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Tujuan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karier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saya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adalah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berkembang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berkontribusi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sebagai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Analytics Manager di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perusahaan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berskala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besar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dengan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memanfaatkan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kemampuan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analitis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keahlian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teknis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serta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kepemimpinan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untuk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mendorong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keberhasilan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78" dirty="0" err="1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berbasis</a:t>
            </a:r>
            <a:r>
              <a:rPr lang="en-US" sz="1978" dirty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data.</a:t>
            </a:r>
          </a:p>
          <a:p>
            <a:pPr algn="just">
              <a:lnSpc>
                <a:spcPts val="2769"/>
              </a:lnSpc>
            </a:pPr>
            <a:endParaRPr lang="en-US" sz="1978" dirty="0">
              <a:solidFill>
                <a:srgbClr val="1E1E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28804" y="3336733"/>
            <a:ext cx="5676780" cy="88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4000" dirty="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JOURNEY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68076" y="4291281"/>
            <a:ext cx="2357676" cy="47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9"/>
              </a:lnSpc>
            </a:pPr>
            <a:r>
              <a:rPr lang="en-US" sz="2535" dirty="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2018-2023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41499" y="4872306"/>
            <a:ext cx="1526310" cy="447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000" dirty="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2025-PRESENT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7345" y="4248435"/>
            <a:ext cx="803723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E1E1E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S1 Teknik Elektro - Telkom University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19800" y="4852987"/>
            <a:ext cx="6969844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1E1E1E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Bootcamp Data Analyst - </a:t>
            </a:r>
            <a:r>
              <a:rPr lang="en-US" sz="3000" b="1" dirty="0" err="1">
                <a:solidFill>
                  <a:srgbClr val="1E1E1E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Dibimbing</a:t>
            </a:r>
            <a:endParaRPr lang="en-US" sz="3000" b="1" dirty="0">
              <a:solidFill>
                <a:srgbClr val="1E1E1E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72660194-41DF-5B79-2D34-24C800CF20B2}"/>
              </a:ext>
            </a:extLst>
          </p:cNvPr>
          <p:cNvSpPr txBox="1"/>
          <p:nvPr/>
        </p:nvSpPr>
        <p:spPr>
          <a:xfrm>
            <a:off x="3886200" y="5434012"/>
            <a:ext cx="6483701" cy="88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4000" dirty="0">
                <a:solidFill>
                  <a:srgbClr val="1E1E1E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BUNDLING OF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5A95E8-D5CC-ECD5-2680-EF77282BB55F}"/>
              </a:ext>
            </a:extLst>
          </p:cNvPr>
          <p:cNvSpPr txBox="1"/>
          <p:nvPr/>
        </p:nvSpPr>
        <p:spPr>
          <a:xfrm>
            <a:off x="4641499" y="6493417"/>
            <a:ext cx="131225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Launch Price Analysis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Spesification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 &amp; Cross Country Benchmarking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Charges Analysis by Age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 Testing 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 Trip Price Driver and Revenue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350436" y="189527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48970" y="2345976"/>
            <a:ext cx="2841202" cy="885304"/>
            <a:chOff x="0" y="0"/>
            <a:chExt cx="1345016" cy="419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5016" cy="419100"/>
            </a:xfrm>
            <a:custGeom>
              <a:avLst/>
              <a:gdLst/>
              <a:ahLst/>
              <a:cxnLst/>
              <a:rect l="l" t="t" r="r" b="b"/>
              <a:pathLst>
                <a:path w="1345016" h="419100">
                  <a:moveTo>
                    <a:pt x="129857" y="0"/>
                  </a:moveTo>
                  <a:lnTo>
                    <a:pt x="1215159" y="0"/>
                  </a:lnTo>
                  <a:cubicBezTo>
                    <a:pt x="1249599" y="0"/>
                    <a:pt x="1282629" y="13681"/>
                    <a:pt x="1306982" y="38034"/>
                  </a:cubicBezTo>
                  <a:cubicBezTo>
                    <a:pt x="1331335" y="62387"/>
                    <a:pt x="1345016" y="95417"/>
                    <a:pt x="1345016" y="129857"/>
                  </a:cubicBezTo>
                  <a:lnTo>
                    <a:pt x="1345016" y="289243"/>
                  </a:lnTo>
                  <a:cubicBezTo>
                    <a:pt x="1345016" y="360961"/>
                    <a:pt x="1286877" y="419100"/>
                    <a:pt x="1215159" y="419100"/>
                  </a:cubicBezTo>
                  <a:lnTo>
                    <a:pt x="129857" y="419100"/>
                  </a:lnTo>
                  <a:cubicBezTo>
                    <a:pt x="58139" y="419100"/>
                    <a:pt x="0" y="360961"/>
                    <a:pt x="0" y="289243"/>
                  </a:cubicBezTo>
                  <a:lnTo>
                    <a:pt x="0" y="129857"/>
                  </a:lnTo>
                  <a:cubicBezTo>
                    <a:pt x="0" y="58139"/>
                    <a:pt x="58139" y="0"/>
                    <a:pt x="129857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345016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JUDUL PROYEK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9393" y="738958"/>
            <a:ext cx="8369213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OVERVIEW PROJECT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2990172" y="2779946"/>
            <a:ext cx="2841202" cy="86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880100" y="2325855"/>
            <a:ext cx="9183382" cy="90542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Integrated Product and Customer Performance  Analysis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8970" y="3468800"/>
            <a:ext cx="3233246" cy="705504"/>
            <a:chOff x="0" y="0"/>
            <a:chExt cx="1120760" cy="2445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0760" cy="244553"/>
            </a:xfrm>
            <a:custGeom>
              <a:avLst/>
              <a:gdLst/>
              <a:ahLst/>
              <a:cxnLst/>
              <a:rect l="l" t="t" r="r" b="b"/>
              <a:pathLst>
                <a:path w="1120760" h="244553">
                  <a:moveTo>
                    <a:pt x="114112" y="0"/>
                  </a:moveTo>
                  <a:lnTo>
                    <a:pt x="1006649" y="0"/>
                  </a:lnTo>
                  <a:cubicBezTo>
                    <a:pt x="1069671" y="0"/>
                    <a:pt x="1120760" y="51090"/>
                    <a:pt x="1120760" y="114112"/>
                  </a:cubicBezTo>
                  <a:lnTo>
                    <a:pt x="1120760" y="130442"/>
                  </a:lnTo>
                  <a:cubicBezTo>
                    <a:pt x="1120760" y="193464"/>
                    <a:pt x="1069671" y="244553"/>
                    <a:pt x="1006649" y="244553"/>
                  </a:cubicBezTo>
                  <a:lnTo>
                    <a:pt x="114112" y="244553"/>
                  </a:lnTo>
                  <a:cubicBezTo>
                    <a:pt x="51090" y="244553"/>
                    <a:pt x="0" y="193464"/>
                    <a:pt x="0" y="130442"/>
                  </a:cubicBezTo>
                  <a:lnTo>
                    <a:pt x="0" y="114112"/>
                  </a:lnTo>
                  <a:cubicBezTo>
                    <a:pt x="0" y="51090"/>
                    <a:pt x="51090" y="0"/>
                    <a:pt x="114112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20760" cy="254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DESKRIPSI SINGKAT 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3382216" y="3818363"/>
            <a:ext cx="2485184" cy="31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880100" y="3376344"/>
            <a:ext cx="9183382" cy="183524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just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Proyek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ini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bertujuan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untuk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menganalisis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performa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produk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dan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perilaku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pelanggan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menggunakan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pendekatan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berbasis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data,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termasuk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segmentasi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pelanggan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,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kontribusi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revenue, customer value (CLV),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serta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analisis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kepuasan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dan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pelanggan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untuk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mendukung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pengambilan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keputusan</a:t>
            </a:r>
            <a:r>
              <a:rPr lang="en-US" sz="28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strategis</a:t>
            </a:r>
            <a:endParaRPr lang="en-US" sz="2800" spc="-179" dirty="0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524000" y="4198594"/>
            <a:ext cx="4781106" cy="247955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5880100" y="5542184"/>
            <a:ext cx="4102100" cy="1658716"/>
            <a:chOff x="0" y="-9525"/>
            <a:chExt cx="4000094" cy="8869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00094" cy="877376"/>
            </a:xfrm>
            <a:custGeom>
              <a:avLst/>
              <a:gdLst/>
              <a:ahLst/>
              <a:cxnLst/>
              <a:rect l="l" t="t" r="r" b="b"/>
              <a:pathLst>
                <a:path w="4000093" h="877376">
                  <a:moveTo>
                    <a:pt x="51058" y="0"/>
                  </a:moveTo>
                  <a:lnTo>
                    <a:pt x="3949036" y="0"/>
                  </a:lnTo>
                  <a:cubicBezTo>
                    <a:pt x="3962577" y="0"/>
                    <a:pt x="3975564" y="5379"/>
                    <a:pt x="3985139" y="14955"/>
                  </a:cubicBezTo>
                  <a:cubicBezTo>
                    <a:pt x="3994714" y="24530"/>
                    <a:pt x="4000093" y="37517"/>
                    <a:pt x="4000093" y="51058"/>
                  </a:cubicBezTo>
                  <a:lnTo>
                    <a:pt x="4000093" y="826319"/>
                  </a:lnTo>
                  <a:cubicBezTo>
                    <a:pt x="4000093" y="854517"/>
                    <a:pt x="3977234" y="877376"/>
                    <a:pt x="3949036" y="877376"/>
                  </a:cubicBezTo>
                  <a:lnTo>
                    <a:pt x="51058" y="877376"/>
                  </a:lnTo>
                  <a:cubicBezTo>
                    <a:pt x="37517" y="877376"/>
                    <a:pt x="24530" y="871997"/>
                    <a:pt x="14955" y="862422"/>
                  </a:cubicBezTo>
                  <a:cubicBezTo>
                    <a:pt x="5379" y="852847"/>
                    <a:pt x="0" y="839860"/>
                    <a:pt x="0" y="826319"/>
                  </a:cubicBezTo>
                  <a:lnTo>
                    <a:pt x="0" y="51058"/>
                  </a:lnTo>
                  <a:cubicBezTo>
                    <a:pt x="0" y="37517"/>
                    <a:pt x="5379" y="24530"/>
                    <a:pt x="14955" y="14955"/>
                  </a:cubicBezTo>
                  <a:cubicBezTo>
                    <a:pt x="24530" y="5379"/>
                    <a:pt x="37517" y="0"/>
                    <a:pt x="51058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000094" cy="886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     Tools &amp; Technology :</a:t>
              </a:r>
            </a:p>
            <a:p>
              <a:pPr marL="647700" lvl="1" indent="-323850" algn="just">
                <a:lnSpc>
                  <a:spcPts val="3000"/>
                </a:lnSpc>
                <a:buFont typeface="Arial"/>
                <a:buChar char="•"/>
              </a:pPr>
              <a:r>
                <a:rPr lang="en-US" sz="3000" spc="-179" dirty="0" err="1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Jupyter</a:t>
              </a: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 Notebook (Cleaning)</a:t>
              </a:r>
            </a:p>
            <a:p>
              <a:pPr marL="647700" lvl="1" indent="-323850" algn="just">
                <a:lnSpc>
                  <a:spcPts val="3000"/>
                </a:lnSpc>
                <a:buFont typeface="Arial"/>
                <a:buChar char="•"/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Power BI (Visualization)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350436" y="189527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42882" y="2532780"/>
            <a:ext cx="8458200" cy="334741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BUSINESS CONTEXT 1</a:t>
            </a:r>
          </a:p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Perusahaan e-commerce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ini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terlihat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menghasilkan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pendapatan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yang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baik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transaksi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berjalan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lancar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berhasil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membeli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nilai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belanjanya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juga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cukup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bagus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Namun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ada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masalah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besar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: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tidak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pernah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kembali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setelah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pembelian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pertama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Tidak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ada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retensi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semua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hilang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setelah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satu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kali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transaksi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Artinya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bisnis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memang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menghasilkan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uang,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tetapi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tidak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membangun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jangka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panjang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Ini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menjadi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sinyal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risiko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serius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untuk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keberlanjutan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bisnis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9277" y="738958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C7023EF2-F383-E91A-F584-51F30CB0A561}"/>
              </a:ext>
            </a:extLst>
          </p:cNvPr>
          <p:cNvSpPr txBox="1"/>
          <p:nvPr/>
        </p:nvSpPr>
        <p:spPr>
          <a:xfrm>
            <a:off x="7351529" y="2051101"/>
            <a:ext cx="3962400" cy="79508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PROBLEM STATEMENT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6DFEB703-0BF2-DA85-2900-E258B101D685}"/>
              </a:ext>
            </a:extLst>
          </p:cNvPr>
          <p:cNvSpPr txBox="1"/>
          <p:nvPr/>
        </p:nvSpPr>
        <p:spPr>
          <a:xfrm>
            <a:off x="316756" y="6310146"/>
            <a:ext cx="8458200" cy="302958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BUSINESS CONTEXT 2</a:t>
            </a:r>
          </a:p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Industri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penerbangan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punya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persaingan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harga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yang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ketat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dan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sangat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mudah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pindah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maskapai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lain. Karena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itu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pengalaman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review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menjadi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faktor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penting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untuk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pembelian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ulang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Walaupun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operasional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penjualan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tetap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berjalan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manajemen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melihat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beberapa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tanda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masalah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: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Loyalitas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belum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stabil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Sentimen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belum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sepenuhnya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positif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Ada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perbedaan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pengalaman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antar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kelas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layanan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Jika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tidak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diperbaiki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,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kondisi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ini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bisa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membuat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perlahan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berpindah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kompetitor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D03E1043-945E-D872-E162-232C67EEA958}"/>
              </a:ext>
            </a:extLst>
          </p:cNvPr>
          <p:cNvSpPr txBox="1"/>
          <p:nvPr/>
        </p:nvSpPr>
        <p:spPr>
          <a:xfrm>
            <a:off x="9677400" y="2850618"/>
            <a:ext cx="7133763" cy="30295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BUSINESS QUESTION :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Apakah Revenue Perusahaan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sehat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berkelanjutan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Apakah Funnel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bermasalah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Siapa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yang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menyumbang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revenue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terbesar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Produk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dan region mana yang paling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berkontribusi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terhadap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revenue?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Apakah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pertumbuhan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customer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sehat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452F7338-9695-2484-8BCC-0C92CD2865B0}"/>
              </a:ext>
            </a:extLst>
          </p:cNvPr>
          <p:cNvSpPr txBox="1"/>
          <p:nvPr/>
        </p:nvSpPr>
        <p:spPr>
          <a:xfrm>
            <a:off x="9677400" y="6364467"/>
            <a:ext cx="8431021" cy="28938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just">
              <a:lnSpc>
                <a:spcPts val="3000"/>
              </a:lnSpc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BUSINESS QUESTION :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Apakah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maskapai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sudah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puas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secara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keseluruhan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dengan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pelayanan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maskapai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penerbangan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Apakah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semua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segmen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atau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kelompok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tertentu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mendapatkan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pengalaman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experience yang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sama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Apa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sebenarnya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yang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membuat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pelanggan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maskapai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puas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atau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tidak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puas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dengan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pelayanan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maskapai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2000" spc="-179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penerbangannya</a:t>
            </a:r>
            <a:r>
              <a:rPr lang="en-US" sz="20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350436" y="189527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3668346" y="2198570"/>
            <a:ext cx="10951306" cy="1134879"/>
            <a:chOff x="0" y="0"/>
            <a:chExt cx="1683183" cy="419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83183" cy="419100"/>
            </a:xfrm>
            <a:custGeom>
              <a:avLst/>
              <a:gdLst/>
              <a:ahLst/>
              <a:cxnLst/>
              <a:rect l="l" t="t" r="r" b="b"/>
              <a:pathLst>
                <a:path w="1683183" h="419100">
                  <a:moveTo>
                    <a:pt x="103768" y="0"/>
                  </a:moveTo>
                  <a:lnTo>
                    <a:pt x="1579415" y="0"/>
                  </a:lnTo>
                  <a:cubicBezTo>
                    <a:pt x="1606936" y="0"/>
                    <a:pt x="1633330" y="10933"/>
                    <a:pt x="1652790" y="30393"/>
                  </a:cubicBezTo>
                  <a:cubicBezTo>
                    <a:pt x="1672250" y="49853"/>
                    <a:pt x="1683183" y="76247"/>
                    <a:pt x="1683183" y="103768"/>
                  </a:cubicBezTo>
                  <a:lnTo>
                    <a:pt x="1683183" y="315332"/>
                  </a:lnTo>
                  <a:cubicBezTo>
                    <a:pt x="1683183" y="372642"/>
                    <a:pt x="1636724" y="419100"/>
                    <a:pt x="1579415" y="419100"/>
                  </a:cubicBezTo>
                  <a:lnTo>
                    <a:pt x="103768" y="419100"/>
                  </a:lnTo>
                  <a:cubicBezTo>
                    <a:pt x="46458" y="419100"/>
                    <a:pt x="0" y="372642"/>
                    <a:pt x="0" y="315332"/>
                  </a:cubicBezTo>
                  <a:lnTo>
                    <a:pt x="0" y="103768"/>
                  </a:lnTo>
                  <a:cubicBezTo>
                    <a:pt x="0" y="46458"/>
                    <a:pt x="46458" y="0"/>
                    <a:pt x="103768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683183" cy="428625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DATA UNDERSTANDING AND DATA PREPARATION – PRODUCT ANALYTICS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9277" y="738958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19400" y="3674787"/>
            <a:ext cx="7452028" cy="113487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JUMLAH BARIS &amp; KOLOM (POST CLEANING):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1000 Baris dan 23 Kolom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32642865-2FA9-B2E4-B2C5-A931BD19EA3F}"/>
              </a:ext>
            </a:extLst>
          </p:cNvPr>
          <p:cNvSpPr txBox="1"/>
          <p:nvPr/>
        </p:nvSpPr>
        <p:spPr>
          <a:xfrm>
            <a:off x="0" y="3682817"/>
            <a:ext cx="2819400" cy="111882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SUMBER DATA: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Product Analytics.csv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BAA2BD97-86F1-77D1-B001-C22BC885690D}"/>
              </a:ext>
            </a:extLst>
          </p:cNvPr>
          <p:cNvSpPr txBox="1"/>
          <p:nvPr/>
        </p:nvSpPr>
        <p:spPr>
          <a:xfrm>
            <a:off x="10271428" y="3661895"/>
            <a:ext cx="4003372" cy="1160661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MISSING VALUE 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1611 ROW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CF918DF3-4D36-8B8F-7DD5-347DD36AEE2F}"/>
              </a:ext>
            </a:extLst>
          </p:cNvPr>
          <p:cNvSpPr txBox="1"/>
          <p:nvPr/>
        </p:nvSpPr>
        <p:spPr>
          <a:xfrm>
            <a:off x="14274800" y="3661895"/>
            <a:ext cx="4003372" cy="11606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DUPLIKAT: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96360</a:t>
            </a:r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F926AACA-39BF-250E-5263-D247199CEDC7}"/>
              </a:ext>
            </a:extLst>
          </p:cNvPr>
          <p:cNvSpPr txBox="1"/>
          <p:nvPr/>
        </p:nvSpPr>
        <p:spPr>
          <a:xfrm>
            <a:off x="0" y="5288226"/>
            <a:ext cx="10127077" cy="113487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JUMLAH BARIS &amp; KOLOM (AFTER CLEANING):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3640 Baris dan 26 Kolom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6669973B-4DD6-0ED4-57EA-FFF7CB6B206D}"/>
              </a:ext>
            </a:extLst>
          </p:cNvPr>
          <p:cNvSpPr txBox="1"/>
          <p:nvPr/>
        </p:nvSpPr>
        <p:spPr>
          <a:xfrm>
            <a:off x="10127077" y="5275334"/>
            <a:ext cx="4003372" cy="11606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MISSING VALUE :</a:t>
            </a:r>
          </a:p>
          <a:p>
            <a:pPr algn="ctr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1536 ROW (KEEP)</a:t>
            </a:r>
          </a:p>
          <a:p>
            <a:pPr algn="ctr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BUAT 3 KOLOM BARU 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CFAE4151-5628-714F-9E22-5830D90867DC}"/>
              </a:ext>
            </a:extLst>
          </p:cNvPr>
          <p:cNvSpPr txBox="1"/>
          <p:nvPr/>
        </p:nvSpPr>
        <p:spPr>
          <a:xfrm>
            <a:off x="14130448" y="5275334"/>
            <a:ext cx="4157551" cy="11606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DUPLIKAT: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5B172-4DB1-E7E5-A9E8-1EC6DADC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D3165F-6806-C03B-F367-36069FA465D0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9D0111F-58AD-B73F-0B7B-A7D8EA5000ED}"/>
              </a:ext>
            </a:extLst>
          </p:cNvPr>
          <p:cNvSpPr/>
          <p:nvPr/>
        </p:nvSpPr>
        <p:spPr>
          <a:xfrm>
            <a:off x="-350436" y="189527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68D6F4-A4FE-5FFA-A5CB-E0F259100440}"/>
              </a:ext>
            </a:extLst>
          </p:cNvPr>
          <p:cNvGrpSpPr/>
          <p:nvPr/>
        </p:nvGrpSpPr>
        <p:grpSpPr>
          <a:xfrm>
            <a:off x="1600200" y="2198570"/>
            <a:ext cx="15957806" cy="1134879"/>
            <a:chOff x="0" y="0"/>
            <a:chExt cx="1683183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93603B-E099-1952-49B6-075C7605C8B6}"/>
                </a:ext>
              </a:extLst>
            </p:cNvPr>
            <p:cNvSpPr/>
            <p:nvPr/>
          </p:nvSpPr>
          <p:spPr>
            <a:xfrm>
              <a:off x="0" y="0"/>
              <a:ext cx="1683183" cy="419100"/>
            </a:xfrm>
            <a:custGeom>
              <a:avLst/>
              <a:gdLst/>
              <a:ahLst/>
              <a:cxnLst/>
              <a:rect l="l" t="t" r="r" b="b"/>
              <a:pathLst>
                <a:path w="1683183" h="419100">
                  <a:moveTo>
                    <a:pt x="103768" y="0"/>
                  </a:moveTo>
                  <a:lnTo>
                    <a:pt x="1579415" y="0"/>
                  </a:lnTo>
                  <a:cubicBezTo>
                    <a:pt x="1606936" y="0"/>
                    <a:pt x="1633330" y="10933"/>
                    <a:pt x="1652790" y="30393"/>
                  </a:cubicBezTo>
                  <a:cubicBezTo>
                    <a:pt x="1672250" y="49853"/>
                    <a:pt x="1683183" y="76247"/>
                    <a:pt x="1683183" y="103768"/>
                  </a:cubicBezTo>
                  <a:lnTo>
                    <a:pt x="1683183" y="315332"/>
                  </a:lnTo>
                  <a:cubicBezTo>
                    <a:pt x="1683183" y="372642"/>
                    <a:pt x="1636724" y="419100"/>
                    <a:pt x="1579415" y="419100"/>
                  </a:cubicBezTo>
                  <a:lnTo>
                    <a:pt x="103768" y="419100"/>
                  </a:lnTo>
                  <a:cubicBezTo>
                    <a:pt x="46458" y="419100"/>
                    <a:pt x="0" y="372642"/>
                    <a:pt x="0" y="315332"/>
                  </a:cubicBezTo>
                  <a:lnTo>
                    <a:pt x="0" y="103768"/>
                  </a:lnTo>
                  <a:cubicBezTo>
                    <a:pt x="0" y="46458"/>
                    <a:pt x="46458" y="0"/>
                    <a:pt x="103768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62318E5-45C1-FE82-A268-9193AD6B5528}"/>
                </a:ext>
              </a:extLst>
            </p:cNvPr>
            <p:cNvSpPr txBox="1"/>
            <p:nvPr/>
          </p:nvSpPr>
          <p:spPr>
            <a:xfrm>
              <a:off x="0" y="-9525"/>
              <a:ext cx="1683183" cy="428625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DATA UNDERSTANDING AND DATA PREPARATION –  SATISFACTION AND SENTIMENT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7CA7D03-B5DF-E838-C730-E4B913422AAC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A0C821-6853-4F5E-59CA-27E709A7764C}"/>
              </a:ext>
            </a:extLst>
          </p:cNvPr>
          <p:cNvSpPr txBox="1"/>
          <p:nvPr/>
        </p:nvSpPr>
        <p:spPr>
          <a:xfrm>
            <a:off x="6039277" y="738958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17D3087-D399-A4C7-BC0F-63C97221075E}"/>
              </a:ext>
            </a:extLst>
          </p:cNvPr>
          <p:cNvSpPr txBox="1"/>
          <p:nvPr/>
        </p:nvSpPr>
        <p:spPr>
          <a:xfrm>
            <a:off x="2819400" y="3598067"/>
            <a:ext cx="7452028" cy="12116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JUMLAH BARIS &amp; KOLOM (POST CLEANING):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100000 Baris dan 25 Kolom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079F6413-7043-7936-E04A-30CF6A4D075F}"/>
              </a:ext>
            </a:extLst>
          </p:cNvPr>
          <p:cNvSpPr txBox="1"/>
          <p:nvPr/>
        </p:nvSpPr>
        <p:spPr>
          <a:xfrm>
            <a:off x="0" y="3610950"/>
            <a:ext cx="2819400" cy="1190687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SUMBER DATA: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Customer Satisfaction and Sentiment.csv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851C559A-8EE9-56E8-7C58-A1F382BA9554}"/>
              </a:ext>
            </a:extLst>
          </p:cNvPr>
          <p:cNvSpPr txBox="1"/>
          <p:nvPr/>
        </p:nvSpPr>
        <p:spPr>
          <a:xfrm>
            <a:off x="10271428" y="3598067"/>
            <a:ext cx="4003372" cy="122448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MISSING VALUE 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300 ROW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74FBE9E9-AB10-40E8-1342-5E17D7E19E2D}"/>
              </a:ext>
            </a:extLst>
          </p:cNvPr>
          <p:cNvSpPr txBox="1"/>
          <p:nvPr/>
        </p:nvSpPr>
        <p:spPr>
          <a:xfrm>
            <a:off x="14274800" y="3598063"/>
            <a:ext cx="4003372" cy="1224488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DUPLIKAT: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0</a:t>
            </a:r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E71D949E-027D-B7DC-0CC3-4506641EA631}"/>
              </a:ext>
            </a:extLst>
          </p:cNvPr>
          <p:cNvSpPr txBox="1"/>
          <p:nvPr/>
        </p:nvSpPr>
        <p:spPr>
          <a:xfrm>
            <a:off x="0" y="5288226"/>
            <a:ext cx="10127077" cy="1134879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JUMLAH BARIS &amp; KOLOM (AFTER CLEANING):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100000 Baris dan 25 Kolom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69440FAE-5750-797B-1813-751E98BDD872}"/>
              </a:ext>
            </a:extLst>
          </p:cNvPr>
          <p:cNvSpPr txBox="1"/>
          <p:nvPr/>
        </p:nvSpPr>
        <p:spPr>
          <a:xfrm>
            <a:off x="10127077" y="5275334"/>
            <a:ext cx="4003372" cy="11606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MISSING VALUE :</a:t>
            </a:r>
          </a:p>
          <a:p>
            <a:pPr algn="ctr">
              <a:lnSpc>
                <a:spcPts val="3000"/>
              </a:lnSpc>
            </a:pPr>
            <a:r>
              <a:rPr lang="en-US" sz="2800" spc="-17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0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C08B349C-9A28-51B0-C549-2DD07112AAA1}"/>
              </a:ext>
            </a:extLst>
          </p:cNvPr>
          <p:cNvSpPr txBox="1"/>
          <p:nvPr/>
        </p:nvSpPr>
        <p:spPr>
          <a:xfrm>
            <a:off x="14130448" y="5275334"/>
            <a:ext cx="4157551" cy="11606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lIns="50800" tIns="50800" rIns="50800" bIns="50800" rtlCol="0" anchor="ctr"/>
          <a:lstStyle/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DUPLIKAT:</a:t>
            </a:r>
          </a:p>
          <a:p>
            <a:pPr algn="ctr">
              <a:lnSpc>
                <a:spcPts val="3000"/>
              </a:lnSpc>
            </a:pPr>
            <a:r>
              <a:rPr lang="en-US" sz="3000" spc="-179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07657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6449526" y="1069125"/>
            <a:ext cx="5550413" cy="693358"/>
            <a:chOff x="0" y="0"/>
            <a:chExt cx="3354944" cy="419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PREVIEW  DASHBOARD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28A221-E9DC-B383-8C3C-124888568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43100"/>
            <a:ext cx="17373599" cy="79247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038600" y="1069126"/>
            <a:ext cx="11535236" cy="1331174"/>
            <a:chOff x="0" y="0"/>
            <a:chExt cx="3354944" cy="419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PRODUCT ANALYTICS – BUSINESS QUESTION 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9C5B72-7E7C-B32F-D735-F40ED9DD7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6" y="2688257"/>
            <a:ext cx="7020905" cy="1057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AD71BB-842D-28BF-E745-BA63736D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62857"/>
            <a:ext cx="10793221" cy="21684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44500B-09E2-11A7-3264-2257E6563621}"/>
              </a:ext>
            </a:extLst>
          </p:cNvPr>
          <p:cNvSpPr txBox="1"/>
          <p:nvPr/>
        </p:nvSpPr>
        <p:spPr>
          <a:xfrm>
            <a:off x="457199" y="5600700"/>
            <a:ext cx="17651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Deliver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ribuan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ARPU / AOV / LTV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permukaan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MAU,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berbicara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terus-menerus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fluktuasi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penurunan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terendah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menyusut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retensi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churn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6F2520-D78E-F5E9-67ED-C8CEF00101E6}"/>
              </a:ext>
            </a:extLst>
          </p:cNvPr>
          <p:cNvSpPr txBox="1"/>
          <p:nvPr/>
        </p:nvSpPr>
        <p:spPr>
          <a:xfrm>
            <a:off x="399121" y="7278056"/>
            <a:ext cx="17651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ditopang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loyal.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berisiko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melemah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14650-105D-65D9-E7A0-A46AD33B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8B07A9-615B-39A6-316D-12F3C30769D3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32C034-ECFD-6F3A-D2BD-923F7380B615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EF249EB-1165-2611-C3DE-3FD5217C2606}"/>
              </a:ext>
            </a:extLst>
          </p:cNvPr>
          <p:cNvGrpSpPr/>
          <p:nvPr/>
        </p:nvGrpSpPr>
        <p:grpSpPr>
          <a:xfrm>
            <a:off x="4038600" y="1069126"/>
            <a:ext cx="11535236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F972DBC-D710-A45F-A3B9-CA113853E991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72CB2CE-8CB4-852A-EA5F-2422CF96375B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PRODUCT ANALYTICS – BUSINESS QUESTION 2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1F53200-768A-68D1-CB3F-FF1FFC7CA2B6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1FF3EF-2874-21AA-BAF1-041C164444BE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505ED5-59C9-C6E1-449F-6B72601EE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8899"/>
            <a:ext cx="17506083" cy="36575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989FCA-0FB1-F06B-7EED-389D3F64F4BA}"/>
              </a:ext>
            </a:extLst>
          </p:cNvPr>
          <p:cNvSpPr txBox="1"/>
          <p:nvPr/>
        </p:nvSpPr>
        <p:spPr>
          <a:xfrm>
            <a:off x="350161" y="6522825"/>
            <a:ext cx="17651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funnel,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di-approve,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pengiriman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hambatan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berarti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delivery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lancar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revenue pun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berhasil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Proses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pengiriman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Conversion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tercapai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DA0177-203B-C3EF-ADDE-B3CDE5A34915}"/>
              </a:ext>
            </a:extLst>
          </p:cNvPr>
          <p:cNvSpPr txBox="1"/>
          <p:nvPr/>
        </p:nvSpPr>
        <p:spPr>
          <a:xfrm>
            <a:off x="350161" y="8082598"/>
            <a:ext cx="17651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didapatkan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Masalah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funnel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melainkan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88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AC73B-C93F-263E-F3A7-0A30D433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8E42B0-6889-C897-7507-686F874FE790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FBE91DB-7BBA-B022-0841-43962D1C5FF0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23A6948-A815-EF9D-A3E4-97753D677A7E}"/>
              </a:ext>
            </a:extLst>
          </p:cNvPr>
          <p:cNvGrpSpPr/>
          <p:nvPr/>
        </p:nvGrpSpPr>
        <p:grpSpPr>
          <a:xfrm>
            <a:off x="4038600" y="1069126"/>
            <a:ext cx="11535236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491AFC5-F375-4D44-DF02-02AF821FCEE9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A5BCE4-9CCD-1ABB-125B-7E346D964785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PRODUCT ANALYTICS – BUSINESS QUESTION 3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32876E5-BA9E-D81E-1F3A-2678B2AAEE7E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40C01F-7718-2AA9-2682-B0EF92B646BC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EFEB67-D469-7241-74CE-27ABE1E4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79" y="2738683"/>
            <a:ext cx="9677400" cy="56868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AB0EAA-7906-FD1A-31D8-5BEA973CCFA5}"/>
              </a:ext>
            </a:extLst>
          </p:cNvPr>
          <p:cNvSpPr txBox="1"/>
          <p:nvPr/>
        </p:nvSpPr>
        <p:spPr>
          <a:xfrm>
            <a:off x="10025738" y="2768936"/>
            <a:ext cx="8095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Ketika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mayoritas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Value.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Kontribusinya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dibandingkan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Value.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ditopang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Sementara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berkontribusi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sinilah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pentingnya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Revenue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bergantung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Value.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Jika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berisiko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drastis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73735-26EE-502B-EBD5-3E986A1204EE}"/>
              </a:ext>
            </a:extLst>
          </p:cNvPr>
          <p:cNvSpPr txBox="1"/>
          <p:nvPr/>
        </p:nvSpPr>
        <p:spPr>
          <a:xfrm>
            <a:off x="10025738" y="5622908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konsentrasi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bergantung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penghasil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revenue.</a:t>
            </a:r>
          </a:p>
        </p:txBody>
      </p:sp>
    </p:spTree>
    <p:extLst>
      <p:ext uri="{BB962C8B-B14F-4D97-AF65-F5344CB8AC3E}">
        <p14:creationId xmlns:p14="http://schemas.microsoft.com/office/powerpoint/2010/main" val="332127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CED56-4691-41B2-CDDF-759693F6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BA43F1-6883-8273-ACEB-E5C0E37086BF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14FEE7C-B32A-484E-C0B2-BCC669791B07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1D69A50-2C09-6122-85A1-C721CA8A3A03}"/>
              </a:ext>
            </a:extLst>
          </p:cNvPr>
          <p:cNvGrpSpPr/>
          <p:nvPr/>
        </p:nvGrpSpPr>
        <p:grpSpPr>
          <a:xfrm>
            <a:off x="4038600" y="1069126"/>
            <a:ext cx="11535236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5B29E7-8BE3-0313-1916-CD2D7CFA493D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E8BA630-34D8-FACB-CA2A-3C43ADA415D3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PRODUCT ANALYTICS – BUSINESS QUESTION 4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B468B25-A5BB-3FCA-8D0A-95CAE8070BB1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6C9B83-BFCE-0152-3E7A-6D061F149585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2EC9D-133E-5F23-5EF4-EB9E95453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6" y="3216969"/>
            <a:ext cx="8331944" cy="5582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9E9AE9-DC2A-3CB1-54F3-0BFDEBC74473}"/>
              </a:ext>
            </a:extLst>
          </p:cNvPr>
          <p:cNvSpPr txBox="1"/>
          <p:nvPr/>
        </p:nvSpPr>
        <p:spPr>
          <a:xfrm>
            <a:off x="8745744" y="3229669"/>
            <a:ext cx="80953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breakdown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 region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menyumbang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setengah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revenue,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mendominasi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dibanding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bertumpu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Revenue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terkonsentrasi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Jika demand di region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melemah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terdampak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01AF6-72D0-2F85-995E-79F14C61B5F4}"/>
              </a:ext>
            </a:extLst>
          </p:cNvPr>
          <p:cNvSpPr txBox="1"/>
          <p:nvPr/>
        </p:nvSpPr>
        <p:spPr>
          <a:xfrm>
            <a:off x="8733044" y="6972300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diversifikasi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ketergantungan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4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8D919F-193E-51DE-1A52-01D240F5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3F1849-8FFD-5318-4BFB-B8977A899ADA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12B99AB-145F-620B-536D-32BEC695DF2F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49D6768-2A3D-BCDD-3EFA-36F0C14281C4}"/>
              </a:ext>
            </a:extLst>
          </p:cNvPr>
          <p:cNvGrpSpPr/>
          <p:nvPr/>
        </p:nvGrpSpPr>
        <p:grpSpPr>
          <a:xfrm>
            <a:off x="4038600" y="1069126"/>
            <a:ext cx="11535236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1EE1C2E-A938-14AC-BBE6-508D209ECA51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160CE3-1882-0CF9-BD1C-B971F5B08725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PRODUCT ANALYTICS – BUSINESS QUESTION 5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E78B6FF-3580-54BC-1764-C92C41CA6DF7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FEBC6A-B84E-9127-00BB-8BCE7E6A3F8E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500991-F7FC-E395-1B1E-3A0403966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6" y="2776783"/>
            <a:ext cx="7696200" cy="4701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9A0069-C9D3-7E60-47D3-C27D215E729E}"/>
              </a:ext>
            </a:extLst>
          </p:cNvPr>
          <p:cNvSpPr txBox="1"/>
          <p:nvPr/>
        </p:nvSpPr>
        <p:spPr>
          <a:xfrm>
            <a:off x="8077200" y="2807036"/>
            <a:ext cx="8095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mencapai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puncaknya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bandingkan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ceritanya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dikeluarkan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diikuti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lifetime value.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BA0DC-0A27-ED43-BBE3-869F5040B9C8}"/>
              </a:ext>
            </a:extLst>
          </p:cNvPr>
          <p:cNvSpPr txBox="1"/>
          <p:nvPr/>
        </p:nvSpPr>
        <p:spPr>
          <a:xfrm>
            <a:off x="8077199" y="6260760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berkelanjutan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4812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A4794-E9B4-D7C3-2977-037C1427D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7F00BE-8153-5A1F-E5C5-B53B21312640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31ED263-BCE9-6581-5FDC-70E28B82FF9D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B549851-7D46-85AC-47AA-21590B2B82E2}"/>
              </a:ext>
            </a:extLst>
          </p:cNvPr>
          <p:cNvGrpSpPr/>
          <p:nvPr/>
        </p:nvGrpSpPr>
        <p:grpSpPr>
          <a:xfrm>
            <a:off x="3352800" y="1069125"/>
            <a:ext cx="13106400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6D0803-4600-2A08-49B6-01F1D675FEA9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B9DA37B-3EDA-9959-3CC0-04724641CDEA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SATISFACTION AND SENTIMENT – BUSINESS QUESTION 1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F877523-DDF7-6589-34A8-0A5E9127369B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C58854-65A5-BE1D-F56F-1620EA1B4252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C66764-33D2-7305-061C-8212B780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7035"/>
            <a:ext cx="8555278" cy="7159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0F6466-29AD-DDC0-290C-71C14BC60FCD}"/>
              </a:ext>
            </a:extLst>
          </p:cNvPr>
          <p:cNvSpPr txBox="1"/>
          <p:nvPr/>
        </p:nvSpPr>
        <p:spPr>
          <a:xfrm>
            <a:off x="8745745" y="2847876"/>
            <a:ext cx="8095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Tidak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terlalu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juga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antusiasme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distribusinya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mayoritas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ternyata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netral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benar-benar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Banyak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sangat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loyal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merekomendasikan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brand, NPS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3BC12-DE83-443E-63DB-BA07EEC9F8C1}"/>
              </a:ext>
            </a:extLst>
          </p:cNvPr>
          <p:cNvSpPr txBox="1"/>
          <p:nvPr/>
        </p:nvSpPr>
        <p:spPr>
          <a:xfrm>
            <a:off x="8745744" y="5848233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Walaupun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mungkin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fondasi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loyalitas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sebenarnya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1354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B69CD-8381-8340-77F0-F2B6A705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61FF4E-9383-6A49-C15E-BADE90BDCD24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B980C06-A021-C9B1-CF85-C953DE0D1B0A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42A8DEC-2095-280B-63C2-C7E91F6D84AC}"/>
              </a:ext>
            </a:extLst>
          </p:cNvPr>
          <p:cNvGrpSpPr/>
          <p:nvPr/>
        </p:nvGrpSpPr>
        <p:grpSpPr>
          <a:xfrm>
            <a:off x="3352800" y="1069125"/>
            <a:ext cx="13106400" cy="1331174"/>
            <a:chOff x="0" y="0"/>
            <a:chExt cx="3354944" cy="4191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F6F824-B185-BCF8-3AD7-AA522D6F5B28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A982FEB-CCB8-DFBB-66DC-CC7516B70DF9}"/>
                </a:ext>
              </a:extLst>
            </p:cNvPr>
            <p:cNvSpPr txBox="1"/>
            <p:nvPr/>
          </p:nvSpPr>
          <p:spPr>
            <a:xfrm>
              <a:off x="0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SATISFACTION AND SENTIMENT – BUSINESS QUESTION 2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BA017AE-74C0-5EB3-CEB8-2AEEB99F4287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78F25E0-C438-8FD6-CD29-D73B3D7A51FB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8470A-1B88-2F28-AA38-1CF15B940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6" y="2707939"/>
            <a:ext cx="8789144" cy="71599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4C3BE5-7657-E0EA-5374-B31B4D6C73DA}"/>
              </a:ext>
            </a:extLst>
          </p:cNvPr>
          <p:cNvSpPr txBox="1"/>
          <p:nvPr/>
        </p:nvSpPr>
        <p:spPr>
          <a:xfrm>
            <a:off x="9143999" y="2764081"/>
            <a:ext cx="8095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Ketika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perbedaan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mencolok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dibandingkan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 Plus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ekonomi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berbeda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ekonomi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berpotensi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detractor,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merusak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persepsi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FC719-F737-8BEA-7E52-1623D6840C05}"/>
              </a:ext>
            </a:extLst>
          </p:cNvPr>
          <p:cNvSpPr txBox="1"/>
          <p:nvPr/>
        </p:nvSpPr>
        <p:spPr>
          <a:xfrm>
            <a:off x="9237432" y="5652042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Kesenjangan pengalaman antar segmen menciptakan risiko reputasi terutama karena jumlah pelanggan di segmen ekonomi biasanya lebih besar.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24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FF7CA-0E9C-0D83-3BEA-AFD3BFB8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47899-9929-1204-E6D5-4B960CDA1063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67B5CB-4519-81D0-ED00-D12091DBA95F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8A899-9754-732A-8B39-F2D34CE35B83}"/>
              </a:ext>
            </a:extLst>
          </p:cNvPr>
          <p:cNvGrpSpPr/>
          <p:nvPr/>
        </p:nvGrpSpPr>
        <p:grpSpPr>
          <a:xfrm>
            <a:off x="3124202" y="1038871"/>
            <a:ext cx="13334998" cy="1361428"/>
            <a:chOff x="-58516" y="-9525"/>
            <a:chExt cx="3413460" cy="4286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99A2D2D-878B-5C9C-26C6-8469DCF5048C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8A4CFA-1B4B-F528-3970-0283C6D0FCF4}"/>
                </a:ext>
              </a:extLst>
            </p:cNvPr>
            <p:cNvSpPr txBox="1"/>
            <p:nvPr/>
          </p:nvSpPr>
          <p:spPr>
            <a:xfrm>
              <a:off x="-58516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STORYTELLING AND INSIGHT – SATISFACTION AND SENTIMENT – BUSINESS QUESTION 3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6F6B285-2989-70E2-3E36-2875F90EB1C1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192DBC-6DB3-1C16-4A2A-9109A018A23C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F696C2-3078-B1A9-AA37-14EB4F6C6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6" y="2552700"/>
            <a:ext cx="9855944" cy="7596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5D5106-872E-F584-892B-4D5AD2864A6B}"/>
              </a:ext>
            </a:extLst>
          </p:cNvPr>
          <p:cNvSpPr txBox="1"/>
          <p:nvPr/>
        </p:nvSpPr>
        <p:spPr>
          <a:xfrm>
            <a:off x="10066361" y="2590800"/>
            <a:ext cx="809538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Ketika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penerbangan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pesawat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penanganan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proses boarding.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sebenarnya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lihat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terendah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muncul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justru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hal-hal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kenyamanan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keberangkatan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booking online,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pesawat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inti,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sekitarnya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Banyak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kekurangan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kenyamanan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kemudahan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Akibat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Ketidakpuasan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terakumulasi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NPS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774B1-7FC1-773D-0F2B-14973E7885F7}"/>
              </a:ext>
            </a:extLst>
          </p:cNvPr>
          <p:cNvSpPr txBox="1"/>
          <p:nvPr/>
        </p:nvSpPr>
        <p:spPr>
          <a:xfrm>
            <a:off x="10218017" y="5676900"/>
            <a:ext cx="80953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UTAMA 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Bukan penerbangannya yang bermasalah, tetapi kualitas pengalaman tambahan (experience layer) yang perlahan menurunkan kepuasan pelanggan.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73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6EDC5-AAFE-4128-8D42-FCB91A8A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B7034B-761A-E908-186E-677FF4DA6C08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9ABF70-7B72-C65D-1538-9D9EF47CFA1C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B11EB7D-FCBD-1273-998F-7BC65EEFB4F7}"/>
              </a:ext>
            </a:extLst>
          </p:cNvPr>
          <p:cNvGrpSpPr/>
          <p:nvPr/>
        </p:nvGrpSpPr>
        <p:grpSpPr>
          <a:xfrm>
            <a:off x="4953000" y="1200519"/>
            <a:ext cx="8095383" cy="1205543"/>
            <a:chOff x="-58516" y="-9525"/>
            <a:chExt cx="3413460" cy="4286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F5CD12-E7AC-3B72-CE79-EE6133745CDB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30DC3F8-8D10-24BD-C921-2B7BEA90BFDF}"/>
                </a:ext>
              </a:extLst>
            </p:cNvPr>
            <p:cNvSpPr txBox="1"/>
            <p:nvPr/>
          </p:nvSpPr>
          <p:spPr>
            <a:xfrm>
              <a:off x="-58516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CONCLUSION – PRODUCT ANALYTICS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38EC6888-4071-31D3-CAF5-2680D984C3C2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BFEC12-1C39-BA82-3451-0A43D83EC794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A432D-73A0-AEB1-9D83-DAB4D224122F}"/>
              </a:ext>
            </a:extLst>
          </p:cNvPr>
          <p:cNvSpPr txBox="1"/>
          <p:nvPr/>
        </p:nvSpPr>
        <p:spPr>
          <a:xfrm>
            <a:off x="0" y="2440915"/>
            <a:ext cx="809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925C1-4842-FEE7-6EBF-05B7AD044D20}"/>
              </a:ext>
            </a:extLst>
          </p:cNvPr>
          <p:cNvSpPr txBox="1"/>
          <p:nvPr/>
        </p:nvSpPr>
        <p:spPr>
          <a:xfrm>
            <a:off x="76383" y="3027874"/>
            <a:ext cx="139444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conversion funnel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tumbuh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fondasi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terus-menerus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bergantung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berlanjut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dampaknya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akuisisi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sementara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lifetime value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bertumbuh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margin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keuntungan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tertekan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perbaikan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retensi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repeat purchase,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pertumbuhan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berkembang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berkelanjutan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3329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AEDF2-0805-0B81-D7DA-09687C82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ACD498-697E-10A7-D5F3-BC0060C8A3D7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685AE5-F89D-AD3F-DF72-1BCA006A8E63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5EDFF0-4C9C-5F89-47E4-5605D1B43001}"/>
              </a:ext>
            </a:extLst>
          </p:cNvPr>
          <p:cNvGrpSpPr/>
          <p:nvPr/>
        </p:nvGrpSpPr>
        <p:grpSpPr>
          <a:xfrm>
            <a:off x="3124202" y="1038871"/>
            <a:ext cx="13119100" cy="1440247"/>
            <a:chOff x="-58516" y="-9525"/>
            <a:chExt cx="3358195" cy="45344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925FEBB-9754-41D3-7534-3CECC8418768}"/>
                </a:ext>
              </a:extLst>
            </p:cNvPr>
            <p:cNvSpPr/>
            <p:nvPr/>
          </p:nvSpPr>
          <p:spPr>
            <a:xfrm>
              <a:off x="-55265" y="24815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3185D6D-B602-1638-5E8A-99C4887E3305}"/>
                </a:ext>
              </a:extLst>
            </p:cNvPr>
            <p:cNvSpPr txBox="1"/>
            <p:nvPr/>
          </p:nvSpPr>
          <p:spPr>
            <a:xfrm>
              <a:off x="-58516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RECOMMENDATION FOR BUSINESS – PRODUCT ANALYTICS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BE40B02-82CB-D90E-4B4C-4ACAE04A91C6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D18EA9-5613-87E8-45C4-EAB5069AFD31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40628-0160-66DB-9F08-DA9984A87815}"/>
              </a:ext>
            </a:extLst>
          </p:cNvPr>
          <p:cNvSpPr txBox="1"/>
          <p:nvPr/>
        </p:nvSpPr>
        <p:spPr>
          <a:xfrm>
            <a:off x="151656" y="2596036"/>
            <a:ext cx="834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FOR BUSINESS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1D880-BFF6-143F-5CAC-D7CBE0C6AE74}"/>
              </a:ext>
            </a:extLst>
          </p:cNvPr>
          <p:cNvSpPr txBox="1"/>
          <p:nvPr/>
        </p:nvSpPr>
        <p:spPr>
          <a:xfrm>
            <a:off x="151656" y="3359285"/>
            <a:ext cx="167647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Utama: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Perbaiki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Retensi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BQ1 &amp; BQ5 – MAU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growth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Masalah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Kirim email / WhatsApp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(follow-up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rekomendasi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loyalty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reward, cashback).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pembelian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Jalankan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campaign cross-sell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 order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kali.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BQ3 &amp; BQ4 – Risk concentration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Saat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terlalu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bergantung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pada: Satu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 Value) Satu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Satu region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Kembangkan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paling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region lain.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campaign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&amp; Medium Value agar naik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ketergantungan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Nilai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BQ1 &amp; CLV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stagnan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Karena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rata-rata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panjangnya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Bundling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naik. Model subscription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rutin). Membership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eksklusif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frekuensi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memperpanjang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lifetime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Lindungi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Value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BQ3 –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ditopang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Sebagian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Value. Kalau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drastis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access promo. VIP benefit. Campaign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hubungan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loyal.</a:t>
            </a:r>
          </a:p>
        </p:txBody>
      </p:sp>
    </p:spTree>
    <p:extLst>
      <p:ext uri="{BB962C8B-B14F-4D97-AF65-F5344CB8AC3E}">
        <p14:creationId xmlns:p14="http://schemas.microsoft.com/office/powerpoint/2010/main" val="3486954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234DA-325D-F4C9-3DC0-A2A232B0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786B81-8F5C-93F8-7CCD-A66EFF5F2318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B41D498-4AFA-D007-4BD6-9CDD3CD4D8F4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1A57B0-58D8-5E70-01C4-FD6B17DD885D}"/>
              </a:ext>
            </a:extLst>
          </p:cNvPr>
          <p:cNvGrpSpPr/>
          <p:nvPr/>
        </p:nvGrpSpPr>
        <p:grpSpPr>
          <a:xfrm>
            <a:off x="4953000" y="1200519"/>
            <a:ext cx="8095383" cy="1205543"/>
            <a:chOff x="-58516" y="-9525"/>
            <a:chExt cx="3413460" cy="4286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A706F2-1D41-105A-E2F7-4C340BE789DE}"/>
                </a:ext>
              </a:extLst>
            </p:cNvPr>
            <p:cNvSpPr/>
            <p:nvPr/>
          </p:nvSpPr>
          <p:spPr>
            <a:xfrm>
              <a:off x="0" y="0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FC6AD3-9747-E8E5-A9BE-34913BC317BF}"/>
                </a:ext>
              </a:extLst>
            </p:cNvPr>
            <p:cNvSpPr txBox="1"/>
            <p:nvPr/>
          </p:nvSpPr>
          <p:spPr>
            <a:xfrm>
              <a:off x="-58516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CONCLUSION – SATISFACTION AND SENTIMENT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939314D-42E7-2F68-098D-BBEE61FBF1FA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92FDEE-3050-C9F4-5142-314ADD79BA07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9BE81-B169-750B-1095-02B101D0DA41}"/>
              </a:ext>
            </a:extLst>
          </p:cNvPr>
          <p:cNvSpPr txBox="1"/>
          <p:nvPr/>
        </p:nvSpPr>
        <p:spPr>
          <a:xfrm>
            <a:off x="762000" y="3848100"/>
            <a:ext cx="809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92119-895B-9845-E4A7-D5F86E555126}"/>
              </a:ext>
            </a:extLst>
          </p:cNvPr>
          <p:cNvSpPr txBox="1"/>
          <p:nvPr/>
        </p:nvSpPr>
        <p:spPr>
          <a:xfrm>
            <a:off x="571500" y="4891431"/>
            <a:ext cx="1714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Perusahaan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sebenarnya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fondasi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semestinya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menciptakan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loyalitas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kenyamanan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ternyata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berdampak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terakumulasi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segera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diperbaiki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bertambah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memperburuk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persepsi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keseluruhan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gagal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sepenuhnya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memenangkan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146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E99E1-9C13-C2D6-C71C-7D885D9D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2FC22E-94B2-89EC-4361-DD83C6712543}"/>
              </a:ext>
            </a:extLst>
          </p:cNvPr>
          <p:cNvSpPr/>
          <p:nvPr/>
        </p:nvSpPr>
        <p:spPr>
          <a:xfrm>
            <a:off x="151656" y="-5027"/>
            <a:ext cx="1808319" cy="1205546"/>
          </a:xfrm>
          <a:custGeom>
            <a:avLst/>
            <a:gdLst/>
            <a:ahLst/>
            <a:cxnLst/>
            <a:rect l="l" t="t" r="r" b="b"/>
            <a:pathLst>
              <a:path w="1808319" h="1205546">
                <a:moveTo>
                  <a:pt x="0" y="0"/>
                </a:moveTo>
                <a:lnTo>
                  <a:pt x="1808319" y="0"/>
                </a:lnTo>
                <a:lnTo>
                  <a:pt x="1808319" y="1205546"/>
                </a:lnTo>
                <a:lnTo>
                  <a:pt x="0" y="120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8A09792-F416-DDF9-461D-8C757F7760AD}"/>
              </a:ext>
            </a:extLst>
          </p:cNvPr>
          <p:cNvSpPr/>
          <p:nvPr/>
        </p:nvSpPr>
        <p:spPr>
          <a:xfrm>
            <a:off x="-458433" y="1069125"/>
            <a:ext cx="193663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FCFA90-61B9-AC7C-B823-9A604A808860}"/>
              </a:ext>
            </a:extLst>
          </p:cNvPr>
          <p:cNvGrpSpPr/>
          <p:nvPr/>
        </p:nvGrpSpPr>
        <p:grpSpPr>
          <a:xfrm>
            <a:off x="3124202" y="1038871"/>
            <a:ext cx="13119100" cy="1440247"/>
            <a:chOff x="-58516" y="-9525"/>
            <a:chExt cx="3358195" cy="45344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9BECB09-07F4-3E41-2D29-294E9DDF4855}"/>
                </a:ext>
              </a:extLst>
            </p:cNvPr>
            <p:cNvSpPr/>
            <p:nvPr/>
          </p:nvSpPr>
          <p:spPr>
            <a:xfrm>
              <a:off x="-55265" y="24815"/>
              <a:ext cx="3354944" cy="419100"/>
            </a:xfrm>
            <a:custGeom>
              <a:avLst/>
              <a:gdLst/>
              <a:ahLst/>
              <a:cxnLst/>
              <a:rect l="l" t="t" r="r" b="b"/>
              <a:pathLst>
                <a:path w="3354944" h="419100">
                  <a:moveTo>
                    <a:pt x="66473" y="0"/>
                  </a:moveTo>
                  <a:lnTo>
                    <a:pt x="3288472" y="0"/>
                  </a:lnTo>
                  <a:cubicBezTo>
                    <a:pt x="3325183" y="0"/>
                    <a:pt x="3354944" y="29761"/>
                    <a:pt x="3354944" y="66473"/>
                  </a:cubicBezTo>
                  <a:lnTo>
                    <a:pt x="3354944" y="352627"/>
                  </a:lnTo>
                  <a:cubicBezTo>
                    <a:pt x="3354944" y="389339"/>
                    <a:pt x="3325183" y="419100"/>
                    <a:pt x="3288472" y="419100"/>
                  </a:cubicBezTo>
                  <a:lnTo>
                    <a:pt x="66473" y="419100"/>
                  </a:lnTo>
                  <a:cubicBezTo>
                    <a:pt x="29761" y="419100"/>
                    <a:pt x="0" y="389339"/>
                    <a:pt x="0" y="352627"/>
                  </a:cubicBezTo>
                  <a:lnTo>
                    <a:pt x="0" y="66473"/>
                  </a:lnTo>
                  <a:cubicBezTo>
                    <a:pt x="0" y="29761"/>
                    <a:pt x="29761" y="0"/>
                    <a:pt x="66473" y="0"/>
                  </a:cubicBezTo>
                  <a:close/>
                </a:path>
              </a:pathLst>
            </a:custGeom>
            <a:solidFill>
              <a:srgbClr val="E8E7E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7EB183F-8720-52ED-6720-F79BFDDC6FBD}"/>
                </a:ext>
              </a:extLst>
            </p:cNvPr>
            <p:cNvSpPr txBox="1"/>
            <p:nvPr/>
          </p:nvSpPr>
          <p:spPr>
            <a:xfrm>
              <a:off x="-58516" y="-9525"/>
              <a:ext cx="3354944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r>
                <a:rPr lang="en-US" sz="3000" spc="-179" dirty="0">
                  <a:solidFill>
                    <a:srgbClr val="000000"/>
                  </a:solidFill>
                  <a:latin typeface="Times New Roman MT Condensed"/>
                  <a:ea typeface="Times New Roman MT Condensed"/>
                  <a:cs typeface="Times New Roman MT Condensed"/>
                  <a:sym typeface="Times New Roman MT Condensed"/>
                </a:rPr>
                <a:t>RECOMMENDATION FOR BUSINESS – PRODUCT ANALYTICS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848228C-D45C-C265-4C2B-C6893B30A67D}"/>
              </a:ext>
            </a:extLst>
          </p:cNvPr>
          <p:cNvSpPr txBox="1"/>
          <p:nvPr/>
        </p:nvSpPr>
        <p:spPr>
          <a:xfrm>
            <a:off x="15573836" y="365078"/>
            <a:ext cx="2534585" cy="29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3"/>
              </a:lnSpc>
            </a:pPr>
            <a:r>
              <a:rPr lang="en-US" sz="2293" spc="-13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F6E27B0-DD4B-5990-CBAF-F0D045ADDB09}"/>
              </a:ext>
            </a:extLst>
          </p:cNvPr>
          <p:cNvSpPr txBox="1"/>
          <p:nvPr/>
        </p:nvSpPr>
        <p:spPr>
          <a:xfrm>
            <a:off x="6039277" y="222203"/>
            <a:ext cx="6209445" cy="8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4831">
                <a:solidFill>
                  <a:srgbClr val="1E1E1E"/>
                </a:solidFill>
                <a:latin typeface="HK Modular"/>
                <a:ea typeface="HK Modular"/>
                <a:cs typeface="HK Modular"/>
                <a:sym typeface="HK Modular"/>
              </a:rPr>
              <a:t>MAIN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7F584-E689-75AD-5781-DA95B943FC34}"/>
              </a:ext>
            </a:extLst>
          </p:cNvPr>
          <p:cNvSpPr txBox="1"/>
          <p:nvPr/>
        </p:nvSpPr>
        <p:spPr>
          <a:xfrm>
            <a:off x="151656" y="2596036"/>
            <a:ext cx="834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FOR BUSINESS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1E272-D6DF-0CA6-D47D-DABEB77478F7}"/>
              </a:ext>
            </a:extLst>
          </p:cNvPr>
          <p:cNvSpPr txBox="1"/>
          <p:nvPr/>
        </p:nvSpPr>
        <p:spPr>
          <a:xfrm>
            <a:off x="151656" y="3359285"/>
            <a:ext cx="167647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 Layer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convenience &amp; digital experience.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perbaikan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area yang paling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menurunkan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konsistensi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&amp; beverage.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Perjelas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 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membingungkan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online booking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intuitif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diandalkan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akumulasi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ketidakpuasan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Kurangi Gap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Antar Class.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insight: experience gap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Tingkatkan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kebersihan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responsiveness).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jaga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diferensiasi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premium di Business,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Menaikkan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kepuasan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agregat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merusak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positioning premium.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Pemulihan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NPS.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Menjawab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insight: NPS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reputasi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churn.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detractor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spesifik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Lakukan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follow-up personal (email / call).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kompensasi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voucher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goodwill. Tujuan: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Mengubah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kecewa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netral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loyal.</a:t>
            </a:r>
          </a:p>
        </p:txBody>
      </p:sp>
    </p:spTree>
    <p:extLst>
      <p:ext uri="{BB962C8B-B14F-4D97-AF65-F5344CB8AC3E}">
        <p14:creationId xmlns:p14="http://schemas.microsoft.com/office/powerpoint/2010/main" val="3514582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057288"/>
            <a:ext cx="16230600" cy="32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09"/>
              </a:lnSpc>
            </a:pPr>
            <a:r>
              <a:rPr lang="en-US" sz="28262" b="1" spc="-2826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889053" y="1066800"/>
            <a:ext cx="1768402" cy="20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19 February 2026</a:t>
            </a:r>
          </a:p>
        </p:txBody>
      </p:sp>
      <p:sp>
        <p:nvSpPr>
          <p:cNvPr id="4" name="TextBox 4"/>
          <p:cNvSpPr txBox="1"/>
          <p:nvPr/>
        </p:nvSpPr>
        <p:spPr>
          <a:xfrm rot="-263831">
            <a:off x="4968988" y="7426744"/>
            <a:ext cx="8606382" cy="85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sz="5061" spc="-101">
                <a:solidFill>
                  <a:srgbClr val="FF3131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Toriq Avilsyah</a:t>
            </a:r>
          </a:p>
        </p:txBody>
      </p:sp>
      <p:sp>
        <p:nvSpPr>
          <p:cNvPr id="5" name="Freeform 5"/>
          <p:cNvSpPr/>
          <p:nvPr/>
        </p:nvSpPr>
        <p:spPr>
          <a:xfrm>
            <a:off x="232525" y="152745"/>
            <a:ext cx="2365069" cy="1576712"/>
          </a:xfrm>
          <a:custGeom>
            <a:avLst/>
            <a:gdLst/>
            <a:ahLst/>
            <a:cxnLst/>
            <a:rect l="l" t="t" r="r" b="b"/>
            <a:pathLst>
              <a:path w="2365069" h="1576712">
                <a:moveTo>
                  <a:pt x="0" y="0"/>
                </a:moveTo>
                <a:lnTo>
                  <a:pt x="2365069" y="0"/>
                </a:lnTo>
                <a:lnTo>
                  <a:pt x="2365069" y="1576713"/>
                </a:lnTo>
                <a:lnTo>
                  <a:pt x="0" y="1576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2358</Words>
  <Application>Microsoft Office PowerPoint</Application>
  <PresentationFormat>Custom</PresentationFormat>
  <Paragraphs>221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Calibri</vt:lpstr>
      <vt:lpstr>Amsterdam Four</vt:lpstr>
      <vt:lpstr>Times New Roman MT Condensed</vt:lpstr>
      <vt:lpstr>Times New Roman MT Condensed Bold</vt:lpstr>
      <vt:lpstr>Times New Roman</vt:lpstr>
      <vt:lpstr>Arial</vt:lpstr>
      <vt:lpstr>Montserrat</vt:lpstr>
      <vt:lpstr>Montserrat Ultra-Bold</vt:lpstr>
      <vt:lpstr>HK Modular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Toriq Avilsyah</dc:title>
  <dc:creator>USER</dc:creator>
  <cp:lastModifiedBy>Toriq Avilsyah</cp:lastModifiedBy>
  <cp:revision>2</cp:revision>
  <dcterms:created xsi:type="dcterms:W3CDTF">2006-08-16T00:00:00Z</dcterms:created>
  <dcterms:modified xsi:type="dcterms:W3CDTF">2026-02-24T03:12:53Z</dcterms:modified>
  <dc:identifier>DAHByhDQR0k</dc:identifier>
</cp:coreProperties>
</file>